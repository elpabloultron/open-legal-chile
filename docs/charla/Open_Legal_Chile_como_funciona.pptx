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Presentación breve. Después, preguntas al azar de los asistentes. Las animaciones se reproducen dentro de las láminas (clic sobre el video) o desde docs/charla/*.html.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Cuatro partes; la prueba en vivo va al final (o cuando quieran, si se aburren).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del sistema, las piezas básicas. Cada concepto con su ejemplo.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Correr el video (clic) y volver sobre la frase: no es una enciclopedia, es un redactor probabilístico. Ese defecto explica todo lo que sigue.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Aquí está el porqué de las reglas: sin citas, un LLM es un pasante que no sabés si estudió o improvisó.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 vivo para la demo: «analizame esta carpeta» — el agente llama solo a las herramientas, sin comandos.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Ventaja: se conecta una vez y sirve para cualquier cliente de IA que hable MCP.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skills son la diferencia entre un chat genérico y un sistema que trabaja como el estudio.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Recorrer las capas de arriba abajo: cada una agrega algo que al LLM solo le falta.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 conocimiento: cómo el sistema sabe derecho chileno sin leer todo cada vez.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Analogía: al abogado no se le da la biblioteca entera; se le da el mapa y la página exacta.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grafo se reindexa con cada corpus nuevo; cada nodo guarda su archivo de origen.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Ejemplos reales: «recurso de protección» → Cea Egaña; «falta de servicio» → Bermúdez Soto.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 una muestra de verdad, no una ilustración: sale del grafo que está en el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ahorro no es teoría: cada consulta se puede medir y auditar.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reglas están en las 18 skills y en los 19 agentes: no dependen del ánimo del momento.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etapa deja rastro: la respuesta se puede rastrear hasta su origen.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flujo que van a ver en la prueba en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Todo público: PyPI (openlegal-chile), GitHub y Hugging Face con el corpus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reglas viven en AGENTS.md, las 18 skills y los 19 agentes, con pruebas que las cuidan.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invitando a preguntas difíciles: ahí se ve la diferencia entre citar de verdad y aparentar.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presentación practica lo que predica: sus propias cifras van con fuente.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3.mp4"/><Relationship Id="rId3" Type="http://schemas.openxmlformats.org/officeDocument/2006/relationships/video" Target="../media/media3.mp4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4.mp4"/><Relationship Id="rId3" Type="http://schemas.openxmlformats.org/officeDocument/2006/relationships/video" Target="../media/media4.mp4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5.mp4"/><Relationship Id="rId3" Type="http://schemas.openxmlformats.org/officeDocument/2006/relationships/video" Target="../media/media5.mp4"/><Relationship Id="rId4" Type="http://schemas.openxmlformats.org/officeDocument/2006/relationships/image" Target="../media/image10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microsoft.com/office/2007/relationships/media" Target="../media/media6.mp4"/><Relationship Id="rId3" Type="http://schemas.openxmlformats.org/officeDocument/2006/relationships/video" Target="../media/media6.mp4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rtada_n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4708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>
                <a:solidFill>
                  <a:srgbClr val="B58B2A"/>
                </a:solidFill>
                <a:latin typeface="Calibri"/>
              </a:rPr>
              <a:t>PRUEBA EN VIVO · FACULTAD DE DERECHO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12848"/>
            <a:ext cx="9692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5200" b="0">
                <a:solidFill>
                  <a:srgbClr val="FFFFFF"/>
                </a:solidFill>
                <a:latin typeface="Calibri Light"/>
              </a:rPr>
              <a:t>Open Legal Chile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3456432"/>
            <a:ext cx="1188720" cy="45720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675887"/>
            <a:ext cx="8778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450" b="0">
                <a:solidFill>
                  <a:srgbClr val="B9C7D6"/>
                </a:solidFill>
                <a:latin typeface="Calibri"/>
              </a:rPr>
              <a:t>Cómo funciona, de lo más básico a lo más complejo: la IA, el agente, las herramientas, el grafo
y las reglas de la casa — con una prueba en vivo.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0">
                <a:solidFill>
                  <a:srgbClr val="B9C7D6"/>
                </a:solidFill>
                <a:latin typeface="Calibri"/>
              </a:rPr>
              <a:t>Pablo Benavides Jorquera · Septiembre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44768"/>
            <a:ext cx="10424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0">
                <a:solidFill>
                  <a:srgbClr val="8FA8C0"/>
                </a:solidFill>
                <a:latin typeface="Calibri"/>
              </a:rPr>
              <a:t>Sistema que cita: cada dato muestra de dónde viene.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0">
                <a:solidFill>
                  <a:srgbClr val="12222F"/>
                </a:solidFill>
                <a:latin typeface="Calibri Light"/>
              </a:rPr>
              <a:t>Lo que verán hoy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679192" cy="3291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2679192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574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1">
                <a:solidFill>
                  <a:srgbClr val="D8E0E8"/>
                </a:solidFill>
                <a:latin typeface="Calibri Ligh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5292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>
                <a:solidFill>
                  <a:srgbClr val="12222F"/>
                </a:solidFill>
                <a:latin typeface="Calibri"/>
              </a:rPr>
              <a:t>Los cimientos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73552"/>
            <a:ext cx="2240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60" b="0">
                <a:solidFill>
                  <a:srgbClr val="5A7086"/>
                </a:solidFill>
                <a:latin typeface="Calibri"/>
              </a:rPr>
              <a:t>Qué es un LLM, un agente, MCP y una skill.
Con ejemplos y animaciones.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1" y="1783080"/>
            <a:ext cx="2679192" cy="3291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4991" y="1783080"/>
            <a:ext cx="2679192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1" y="20574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1">
                <a:solidFill>
                  <a:srgbClr val="D8E0E8"/>
                </a:solidFill>
                <a:latin typeface="Calibri Light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1" y="285292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>
                <a:solidFill>
                  <a:srgbClr val="12222F"/>
                </a:solidFill>
                <a:latin typeface="Calibri"/>
              </a:rPr>
              <a:t>El conocimiento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1" y="3273552"/>
            <a:ext cx="2240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60" b="0">
                <a:solidFill>
                  <a:srgbClr val="5A7086"/>
                </a:solidFill>
                <a:latin typeface="Calibri"/>
              </a:rPr>
              <a:t>El corpus chileno, cómo se construyó el grafo
y cuánto ahorra en tokens.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7064" y="1783080"/>
            <a:ext cx="2679192" cy="3291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27064" y="1783080"/>
            <a:ext cx="2679192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55664" y="20574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1">
                <a:solidFill>
                  <a:srgbClr val="D8E0E8"/>
                </a:solidFill>
                <a:latin typeface="Calibri Light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5664" y="285292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>
                <a:solidFill>
                  <a:srgbClr val="12222F"/>
                </a:solidFill>
                <a:latin typeface="Calibri"/>
              </a:rPr>
              <a:t>El sistema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273552"/>
            <a:ext cx="2240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60" b="0">
                <a:solidFill>
                  <a:srgbClr val="5A7086"/>
                </a:solidFill>
                <a:latin typeface="Calibri"/>
              </a:rPr>
              <a:t>Las herramientas, las cifras y las reglas
de la casa: citas y honestidad.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9136" y="1783080"/>
            <a:ext cx="2679192" cy="329184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89136" y="1783080"/>
            <a:ext cx="2679192" cy="45720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17736" y="2057400"/>
            <a:ext cx="2194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1">
                <a:solidFill>
                  <a:srgbClr val="D8E0E8"/>
                </a:solidFill>
                <a:latin typeface="Calibri Light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736" y="2852928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500" b="1">
                <a:solidFill>
                  <a:srgbClr val="12222F"/>
                </a:solidFill>
                <a:latin typeface="Calibri"/>
              </a:rPr>
              <a:t>Prueba en vivo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17736" y="3273552"/>
            <a:ext cx="22402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60" b="0">
                <a:solidFill>
                  <a:srgbClr val="5A7086"/>
                </a:solidFill>
                <a:latin typeface="Calibri"/>
              </a:rPr>
              <a:t>Preguntas al azar. Van a ver las fuentes
aparecer al final de cada respuesta.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cion_n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77440" y="1005840"/>
            <a:ext cx="3657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0" b="1">
                <a:solidFill>
                  <a:srgbClr val="2A4A6B"/>
                </a:solidFill>
                <a:latin typeface="Calibri Ligh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1">
                <a:solidFill>
                  <a:srgbClr val="B58B2A"/>
                </a:solidFill>
                <a:latin typeface="Calibri"/>
              </a:rPr>
              <a:t>PARTE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libri Light"/>
              </a:rPr>
              <a:t>Los cimientos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8778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B9C7D6"/>
                </a:solidFill>
                <a:latin typeface="Calibri"/>
              </a:rPr>
              <a:t>Qué es una IA y por qué se equivoca · qué es un agente · el enchufe de las herramientas (MCP)
· qué es una skill · y cómo se ve todo junto, por capas.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50" b="1">
                <a:solidFill>
                  <a:srgbClr val="B58B2A"/>
                </a:solidFill>
                <a:latin typeface="Calibri"/>
              </a:rPr>
              <a:t>PARTE 1 · LOS CIMIENTOS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0">
                <a:solidFill>
                  <a:srgbClr val="12222F"/>
                </a:solidFill>
                <a:latin typeface="Calibri Light"/>
              </a:rPr>
              <a:t>¿Qué es una IA? ¿Y un «LLM»?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572768"/>
            <a:ext cx="603504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140" b="1">
                <a:solidFill>
                  <a:srgbClr val="2E5D8A"/>
                </a:solidFill>
                <a:latin typeface="Calibri"/>
              </a:rPr>
              <a:t>•  </a:t>
            </a:r>
            <a:r>
              <a:rPr sz="1140" b="1">
                <a:solidFill>
                  <a:srgbClr val="5A7086"/>
                </a:solidFill>
                <a:latin typeface="Calibri"/>
              </a:rPr>
              <a:t>Es una máquina que apuesta a la palabra siguiente: </a:t>
            </a:r>
            <a:r>
              <a:rPr sz="1140" b="0">
                <a:solidFill>
                  <a:srgbClr val="5A7086"/>
                </a:solidFill>
                <a:latin typeface="Calibri"/>
              </a:rPr>
              <a:t>así se entrenó, leyendo millones de textos.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140" b="1">
                <a:solidFill>
                  <a:srgbClr val="2E5D8A"/>
                </a:solidFill>
                <a:latin typeface="Calibri"/>
              </a:rPr>
              <a:t>•  </a:t>
            </a:r>
            <a:r>
              <a:rPr sz="1140" b="1">
                <a:solidFill>
                  <a:srgbClr val="5A7086"/>
                </a:solidFill>
                <a:latin typeface="Calibri"/>
              </a:rPr>
              <a:t>No consulta una base de datos ni «sabe» derecho: </a:t>
            </a:r>
            <a:r>
              <a:rPr sz="1140" b="0">
                <a:solidFill>
                  <a:srgbClr val="5A7086"/>
                </a:solidFill>
                <a:latin typeface="Calibri"/>
              </a:rPr>
              <a:t>calcula probabilidades.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140" b="1">
                <a:solidFill>
                  <a:srgbClr val="2E5D8A"/>
                </a:solidFill>
                <a:latin typeface="Calibri"/>
              </a:rPr>
              <a:t>•  </a:t>
            </a:r>
            <a:r>
              <a:rPr sz="1140" b="1">
                <a:solidFill>
                  <a:srgbClr val="5A7086"/>
                </a:solidFill>
                <a:latin typeface="Calibri"/>
              </a:rPr>
              <a:t>Fortaleza: redacta, resume, traduce. </a:t>
            </a:r>
            <a:r>
              <a:rPr sz="1140" b="0">
                <a:solidFill>
                  <a:srgbClr val="5A7086"/>
                </a:solidFill>
                <a:latin typeface="Calibri"/>
              </a:rPr>
              <a:t>Debilidad: inventa con seguridad.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784" y="3383280"/>
            <a:ext cx="6492240" cy="2926080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3310128"/>
            <a:ext cx="6492240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animacion_llm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5216" y="3392424"/>
            <a:ext cx="6327648" cy="27614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309360"/>
            <a:ext cx="6492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0">
                <a:solidFill>
                  <a:srgbClr val="5A7086"/>
                </a:solidFill>
                <a:latin typeface="Calibri"/>
              </a:rPr>
              <a:t>La máquina de la siguiente palabra: elige «Corte» porque lo leyó miles de veces — y puede equivocarse con la misma seguridad.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50" b="1">
                <a:solidFill>
                  <a:srgbClr val="B58B2A"/>
                </a:solidFill>
                <a:latin typeface="Calibri"/>
              </a:rPr>
              <a:t>PARTE 1 · LOS CIMIENTOS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0">
                <a:solidFill>
                  <a:srgbClr val="12222F"/>
                </a:solidFill>
                <a:latin typeface="Calibri Light"/>
              </a:rPr>
              <a:t>En qué se equivoca (y cómo lo compensamos)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50292" cy="365760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19656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30" b="1">
                <a:solidFill>
                  <a:srgbClr val="12222F"/>
                </a:solidFill>
                <a:latin typeface="Calibri"/>
              </a:rPr>
              <a:t>El riesgo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203704"/>
            <a:ext cx="316382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00" b="0">
                <a:solidFill>
                  <a:srgbClr val="5A7086"/>
                </a:solidFill>
                <a:latin typeface="Calibri"/>
              </a:rPr>
              <a:t>Un modelo solo puede inventar una cita de un fallo que no existe, un artículo que no dice eso, un plazo que suena razonable. Y lo dice con la misma seguridad con que acierta.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69164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691640"/>
            <a:ext cx="50292" cy="3657600"/>
          </a:xfrm>
          <a:prstGeom prst="rect">
            <a:avLst/>
          </a:prstGeom>
          <a:solidFill>
            <a:srgbClr val="1E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1819656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30" b="1">
                <a:solidFill>
                  <a:srgbClr val="12222F"/>
                </a:solidFill>
                <a:latin typeface="Calibri"/>
              </a:rPr>
              <a:t>La respuesta de la casa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2203704"/>
            <a:ext cx="316382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00" b="0">
                <a:solidFill>
                  <a:srgbClr val="5A7086"/>
                </a:solidFill>
                <a:latin typeface="Calibri"/>
              </a:rPr>
              <a:t>No se le pide memoria: se le conectan fuentes reales (BCN, Contraloría, DT, doctrina, corpus) y se le exige citar. Lo que no tiene fuente, se dice.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6" y="1691640"/>
            <a:ext cx="3566160" cy="365760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29016" y="1691640"/>
            <a:ext cx="50292" cy="3657600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4" y="1819656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30" b="1">
                <a:solidFill>
                  <a:srgbClr val="12222F"/>
                </a:solidFill>
                <a:latin typeface="Calibri"/>
              </a:rPr>
              <a:t>La regla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4" y="2203704"/>
            <a:ext cx="316382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00" b="0">
                <a:solidFill>
                  <a:srgbClr val="5A7086"/>
                </a:solidFill>
                <a:latin typeface="Calibri"/>
              </a:rPr>
              <a:t>Toda respuesta que use una fuente la cita. En los documentos, a pie de página. En la conversación, al final. Sin fuente verificable: se dice.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50" b="1">
                <a:solidFill>
                  <a:srgbClr val="B58B2A"/>
                </a:solidFill>
                <a:latin typeface="Calibri"/>
              </a:rPr>
              <a:t>PARTE 1 · LOS CIMIENTOS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0">
                <a:solidFill>
                  <a:srgbClr val="12222F"/>
                </a:solidFill>
                <a:latin typeface="Calibri Light"/>
              </a:rPr>
              <a:t>¿Qué es un agente (o «harness»)?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69164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50292" cy="356616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819656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30" b="1">
                <a:solidFill>
                  <a:srgbClr val="12222F"/>
                </a:solidFill>
                <a:latin typeface="Calibri"/>
              </a:rPr>
              <a:t>El motor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203704"/>
            <a:ext cx="3163824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00" b="0">
                <a:solidFill>
                  <a:srgbClr val="5A7086"/>
                </a:solidFill>
                <a:latin typeface="Calibri"/>
              </a:rPr>
              <a:t>El LLM solo: puede conversar, pero no busca, no lee tus archivos, no usa herramientas y olvida todo al cerrar.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69164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691640"/>
            <a:ext cx="50292" cy="3566160"/>
          </a:xfrm>
          <a:prstGeom prst="rect">
            <a:avLst/>
          </a:prstGeom>
          <a:solidFill>
            <a:srgbClr val="1E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17136" y="1819656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30" b="1">
                <a:solidFill>
                  <a:srgbClr val="12222F"/>
                </a:solidFill>
                <a:latin typeface="Calibri"/>
              </a:rPr>
              <a:t>El auto completo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2203704"/>
            <a:ext cx="3163824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00" b="0">
                <a:solidFill>
                  <a:srgbClr val="5A7086"/>
                </a:solidFill>
                <a:latin typeface="Calibri"/>
              </a:rPr>
              <a:t>El agente le da al motor: herramientas (MCP), procedimientos (skills), memoria, permisos y reglas. Decide cuándo usar cada cosa y deja rastro.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29016" y="169164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29016" y="1691640"/>
            <a:ext cx="50292" cy="3566160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0184" y="1819656"/>
            <a:ext cx="31821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30" b="1">
                <a:solidFill>
                  <a:srgbClr val="12222F"/>
                </a:solidFill>
                <a:latin typeface="Calibri"/>
              </a:rPr>
              <a:t>Ejemplos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0184" y="2203704"/>
            <a:ext cx="3163824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00" b="0">
                <a:solidFill>
                  <a:srgbClr val="5A7086"/>
                </a:solidFill>
                <a:latin typeface="Calibri"/>
              </a:rPr>
              <a:t>Claude Code · Antigravity · Hermes (el de esta casa). Todos hablan el mismo idioma de herramientas.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50" b="1">
                <a:solidFill>
                  <a:srgbClr val="B58B2A"/>
                </a:solidFill>
                <a:latin typeface="Calibri"/>
              </a:rPr>
              <a:t>PARTE 1 · LOS CIMIENTOS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0">
                <a:solidFill>
                  <a:srgbClr val="12222F"/>
                </a:solidFill>
                <a:latin typeface="Calibri Light"/>
              </a:rPr>
              <a:t>¿Qué es MCP? El enchufe de las herramientas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585216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160" b="1">
                <a:solidFill>
                  <a:srgbClr val="12222F"/>
                </a:solidFill>
                <a:latin typeface="Calibri"/>
              </a:rPr>
              <a:t>Un protocolo estándar: </a:t>
            </a:r>
            <a:r>
              <a:rPr sz="1160" b="0">
                <a:solidFill>
                  <a:srgbClr val="5A7086"/>
                </a:solidFill>
                <a:latin typeface="Calibri"/>
              </a:rPr>
              <a:t>como el USB-C, deja que cualquier agente use las mismas herramientas sin trabajo a medida.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160" b="1">
                <a:solidFill>
                  <a:srgbClr val="12222F"/>
                </a:solidFill>
                <a:latin typeface="Calibri"/>
              </a:rPr>
              <a:t>Open Legal Chile expone 74 herramientas por MCP: </a:t>
            </a:r>
            <a:r>
              <a:rPr sz="1160" b="0">
                <a:solidFill>
                  <a:srgbClr val="5A7086"/>
                </a:solidFill>
                <a:latin typeface="Calibri"/>
              </a:rPr>
              <a:t>BCN, Contraloría, Dirección del Trabajo, SII, CMF, SMA, PJUD, doctrina, grafo…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160" b="1">
                <a:solidFill>
                  <a:srgbClr val="12222F"/>
                </a:solidFill>
                <a:latin typeface="Calibri"/>
              </a:rPr>
              <a:t>El abogado no llama comandos: </a:t>
            </a:r>
            <a:r>
              <a:rPr sz="1160" b="0">
                <a:solidFill>
                  <a:srgbClr val="5A7086"/>
                </a:solidFill>
                <a:latin typeface="Calibri"/>
              </a:rPr>
              <a:t>pregunta en lenguaje natural y el agente elige el enchufe correcto.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0" y="2057400"/>
            <a:ext cx="1234440" cy="1234440"/>
          </a:xfrm>
          <a:prstGeom prst="roundRect">
            <a:avLst>
              <a:gd name="adj" fmla="val 50000"/>
            </a:avLst>
          </a:prstGeom>
          <a:solidFill>
            <a:srgbClr val="1F3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66560" y="2450592"/>
            <a:ext cx="1234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Agente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95360" y="1481328"/>
            <a:ext cx="3063240" cy="475488"/>
          </a:xfrm>
          <a:prstGeom prst="roundRect">
            <a:avLst>
              <a:gd name="adj" fmla="val 22000"/>
            </a:avLst>
          </a:prstGeom>
          <a:solidFill>
            <a:srgbClr val="F4F6F9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96528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>
                <a:solidFill>
                  <a:srgbClr val="12222F"/>
                </a:solidFill>
                <a:latin typeface="Calibri"/>
              </a:rPr>
              <a:t>BCN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1719072"/>
            <a:ext cx="594360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95360" y="2103120"/>
            <a:ext cx="3063240" cy="475488"/>
          </a:xfrm>
          <a:prstGeom prst="roundRect">
            <a:avLst>
              <a:gd name="adj" fmla="val 22000"/>
            </a:avLst>
          </a:prstGeom>
          <a:solidFill>
            <a:srgbClr val="F4F6F9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96528" y="222199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>
                <a:solidFill>
                  <a:srgbClr val="12222F"/>
                </a:solidFill>
                <a:latin typeface="Calibri"/>
              </a:rPr>
              <a:t>Contraloría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01000" y="2340864"/>
            <a:ext cx="594360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95360" y="2724912"/>
            <a:ext cx="3063240" cy="475488"/>
          </a:xfrm>
          <a:prstGeom prst="roundRect">
            <a:avLst>
              <a:gd name="adj" fmla="val 22000"/>
            </a:avLst>
          </a:prstGeom>
          <a:solidFill>
            <a:srgbClr val="F4F6F9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96528" y="284378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>
                <a:solidFill>
                  <a:srgbClr val="12222F"/>
                </a:solidFill>
                <a:latin typeface="Calibri"/>
              </a:rPr>
              <a:t>DT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2962656"/>
            <a:ext cx="594360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95360" y="3346704"/>
            <a:ext cx="3063240" cy="475488"/>
          </a:xfrm>
          <a:prstGeom prst="roundRect">
            <a:avLst>
              <a:gd name="adj" fmla="val 22000"/>
            </a:avLst>
          </a:prstGeom>
          <a:solidFill>
            <a:srgbClr val="F4F6F9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96528" y="346557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>
                <a:solidFill>
                  <a:srgbClr val="12222F"/>
                </a:solidFill>
                <a:latin typeface="Calibri"/>
              </a:rPr>
              <a:t>Doctrina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3584448"/>
            <a:ext cx="594360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595360" y="3968496"/>
            <a:ext cx="3063240" cy="475488"/>
          </a:xfrm>
          <a:prstGeom prst="roundRect">
            <a:avLst>
              <a:gd name="adj" fmla="val 22000"/>
            </a:avLst>
          </a:prstGeom>
          <a:solidFill>
            <a:srgbClr val="F4F6F9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96528" y="408736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00" b="1">
                <a:solidFill>
                  <a:srgbClr val="12222F"/>
                </a:solidFill>
                <a:latin typeface="Calibri"/>
              </a:rPr>
              <a:t>Grafo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4206240"/>
            <a:ext cx="594360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50" b="1">
                <a:solidFill>
                  <a:srgbClr val="B58B2A"/>
                </a:solidFill>
                <a:latin typeface="Calibri"/>
              </a:rPr>
              <a:t>PARTE 1 · LOS CIMIENTOS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0">
                <a:solidFill>
                  <a:srgbClr val="12222F"/>
                </a:solidFill>
                <a:latin typeface="Calibri Light"/>
              </a:rPr>
              <a:t>¿Qué es una skill? El manual de procedimiento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45920"/>
            <a:ext cx="566928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140" b="1">
                <a:solidFill>
                  <a:srgbClr val="2E5D8A"/>
                </a:solidFill>
                <a:latin typeface="Calibri"/>
              </a:rPr>
              <a:t>•  </a:t>
            </a:r>
            <a:r>
              <a:rPr sz="1140" b="1">
                <a:solidFill>
                  <a:srgbClr val="5A7086"/>
                </a:solidFill>
                <a:latin typeface="Calibri"/>
              </a:rPr>
              <a:t>Un procedimiento escrito </a:t>
            </a:r>
            <a:r>
              <a:rPr sz="1140" b="0">
                <a:solidFill>
                  <a:srgbClr val="5A7086"/>
                </a:solidFill>
                <a:latin typeface="Calibri"/>
              </a:rPr>
              <a:t>que el agente lee antes de actuar: como un protocolo del estudio.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140" b="1">
                <a:solidFill>
                  <a:srgbClr val="2E5D8A"/>
                </a:solidFill>
                <a:latin typeface="Calibri"/>
              </a:rPr>
              <a:t>•  </a:t>
            </a:r>
            <a:r>
              <a:rPr sz="1140" b="1">
                <a:solidFill>
                  <a:srgbClr val="5A7086"/>
                </a:solidFill>
                <a:latin typeface="Calibri"/>
              </a:rPr>
              <a:t>La casa tiene 18 skills: </a:t>
            </a:r>
            <a:r>
              <a:rPr sz="1140" b="0">
                <a:solidFill>
                  <a:srgbClr val="5A7086"/>
                </a:solidFill>
                <a:latin typeface="Calibri"/>
              </a:rPr>
              <a:t>laboral, familia, contratos, societario, dossier, auditoría…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140" b="1">
                <a:solidFill>
                  <a:srgbClr val="2E5D8A"/>
                </a:solidFill>
                <a:latin typeface="Calibri"/>
              </a:rPr>
              <a:t>•  </a:t>
            </a:r>
            <a:r>
              <a:rPr sz="1140" b="1">
                <a:solidFill>
                  <a:srgbClr val="5A7086"/>
                </a:solidFill>
                <a:latin typeface="Calibri"/>
              </a:rPr>
              <a:t>Regla de oro: </a:t>
            </a:r>
            <a:r>
              <a:rPr sz="1140" b="0">
                <a:solidFill>
                  <a:srgbClr val="5A7086"/>
                </a:solidFill>
                <a:latin typeface="Calibri"/>
              </a:rPr>
              <a:t>lo que no tiene fuente verificable, se dice; no se inventa.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37960" y="1645920"/>
            <a:ext cx="5148072" cy="3566160"/>
          </a:xfrm>
          <a:prstGeom prst="roundRect">
            <a:avLst>
              <a:gd name="adj" fmla="val 5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37960" y="1645920"/>
            <a:ext cx="50292" cy="356616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4848" y="1810512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150" b="1">
                <a:solidFill>
                  <a:srgbClr val="12222F"/>
                </a:solidFill>
                <a:latin typeface="Calibri"/>
              </a:rPr>
              <a:t>Ejemplo real: chilean-case-intake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2157984"/>
            <a:ext cx="4681728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060" b="0">
                <a:solidFill>
                  <a:srgbClr val="5A7086"/>
                </a:solidFill>
                <a:latin typeface="Calibri"/>
              </a:rPr>
              <a:t>Cuando llega una carpeta de caso, la skill define el procedimiento:
1.  Detectar la materia por código (patrones chilenos: Rol, RIT, palabras clave).
2.  Leer todos los documentos, incluido lo escaneado (OCR en español).
3.  Armar la línea de tiempo y las partes.
4.  Buscar normas, dictámenes y doctrina — cada uno con su fuente.
5.  Redactar el informe en Word, con citas a pie de página.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50" b="1">
                <a:solidFill>
                  <a:srgbClr val="B58B2A"/>
                </a:solidFill>
                <a:latin typeface="Calibri"/>
              </a:rPr>
              <a:t>PARTE 1 · LOS CIMIENTOS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0">
                <a:solidFill>
                  <a:srgbClr val="12222F"/>
                </a:solidFill>
                <a:latin typeface="Calibri Light"/>
              </a:rPr>
              <a:t>Todo junto, por capas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203704" y="1536192"/>
            <a:ext cx="7863840" cy="4663440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48840" y="1463040"/>
            <a:ext cx="786384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545336"/>
            <a:ext cx="7699248" cy="4498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48840" y="619963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5A7086"/>
                </a:solidFill>
                <a:latin typeface="Calibri"/>
              </a:rPr>
              <a:t>Del modelo al escritorio: LLM → agente → MCP → herramientas, skills, corpus y conectores → el abogado preguntando.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ccion_n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377440" y="1005840"/>
            <a:ext cx="3657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7000" b="1">
                <a:solidFill>
                  <a:srgbClr val="2A4A6B"/>
                </a:solidFill>
                <a:latin typeface="Calibri Light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1">
                <a:solidFill>
                  <a:srgbClr val="B58B2A"/>
                </a:solidFill>
                <a:latin typeface="Calibri"/>
              </a:rPr>
              <a:t>PARTE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libri Light"/>
              </a:rPr>
              <a:t>El conocimiento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8961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0">
                <a:solidFill>
                  <a:srgbClr val="B9C7D6"/>
                </a:solidFill>
                <a:latin typeface="Calibri"/>
              </a:rPr>
              <a:t>El corpus chileno en Markdown · cómo se construyó el grafo · el ahorro de tokens medido
· y cómo operan las citas.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50" b="1">
                <a:solidFill>
                  <a:srgbClr val="B58B2A"/>
                </a:solidFill>
                <a:latin typeface="Calibri"/>
              </a:rPr>
              <a:t>PARTE 2 · EL CONOCIMIENTO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0">
                <a:solidFill>
                  <a:srgbClr val="12222F"/>
                </a:solidFill>
                <a:latin typeface="Calibri Light"/>
              </a:rPr>
              <a:t>El problema del contexto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737360"/>
            <a:ext cx="2697480" cy="178308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737360"/>
            <a:ext cx="2697480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2029967"/>
            <a:ext cx="25511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248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651760"/>
            <a:ext cx="2441448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documentos completos en Markdown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2" y="1737360"/>
            <a:ext cx="2697480" cy="178308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4992" y="1737360"/>
            <a:ext cx="2697480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8144" y="2029967"/>
            <a:ext cx="25511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68,9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2651760"/>
            <a:ext cx="2441448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caracteres: decenas de miles de páginas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1737360"/>
            <a:ext cx="2697480" cy="178308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737360"/>
            <a:ext cx="2697480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2029967"/>
            <a:ext cx="25511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≈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79" y="2651760"/>
            <a:ext cx="2441448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caracteres por token: cada palabra leída cuesta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9136" y="1737360"/>
            <a:ext cx="2606040" cy="178308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89136" y="1737360"/>
            <a:ext cx="2606040" cy="45720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2288" y="2029967"/>
            <a:ext cx="245973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99,9 %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7152" y="2651760"/>
            <a:ext cx="2350008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menos tokens consultando por el grafo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794760"/>
            <a:ext cx="11155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180" b="1">
                <a:solidFill>
                  <a:srgbClr val="2E5D8A"/>
                </a:solidFill>
                <a:latin typeface="Calibri"/>
              </a:rPr>
              <a:t>•  </a:t>
            </a:r>
            <a:r>
              <a:rPr sz="1180" b="0">
                <a:solidFill>
                  <a:srgbClr val="5A7086"/>
                </a:solidFill>
                <a:latin typeface="Calibri"/>
              </a:rPr>
              <a:t>Leer el corpus entero en cada consulta es caro, lento — y peor: lo importante se diluye.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180" b="1">
                <a:solidFill>
                  <a:srgbClr val="2E5D8A"/>
                </a:solidFill>
                <a:latin typeface="Calibri"/>
              </a:rPr>
              <a:t>•  </a:t>
            </a:r>
            <a:r>
              <a:rPr sz="1180" b="0">
                <a:solidFill>
                  <a:srgbClr val="5A7086"/>
                </a:solidFill>
                <a:latin typeface="Calibri"/>
              </a:rPr>
              <a:t>La salida no es leer más, sino leer mejor: un mapa del derecho chileno y la página exacta.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50" b="1">
                <a:solidFill>
                  <a:srgbClr val="B58B2A"/>
                </a:solidFill>
                <a:latin typeface="Calibri"/>
              </a:rPr>
              <a:t>PARTE 2 · EL CONOCIMIENTO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0">
                <a:solidFill>
                  <a:srgbClr val="12222F"/>
                </a:solidFill>
                <a:latin typeface="Calibri Light"/>
              </a:rPr>
              <a:t>Cómo se construyó el grafo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7784" y="1645920"/>
            <a:ext cx="6492240" cy="4663440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72768"/>
            <a:ext cx="649224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animacion_graf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5216" y="1655064"/>
            <a:ext cx="6327648" cy="4498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309359"/>
            <a:ext cx="6492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0">
                <a:solidFill>
                  <a:srgbClr val="5A7086"/>
                </a:solidFill>
                <a:latin typeface="Calibri"/>
              </a:rPr>
              <a:t>Seis etapas, todas reproducibles: del PDF al mapa que ahorra tokens.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645920"/>
            <a:ext cx="44348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20" b="1">
                <a:solidFill>
                  <a:srgbClr val="2E5D8A"/>
                </a:solidFill>
                <a:latin typeface="Calibri"/>
              </a:rPr>
              <a:t>1. </a:t>
            </a:r>
            <a:r>
              <a:rPr sz="1120" b="0">
                <a:solidFill>
                  <a:srgbClr val="5A7086"/>
                </a:solidFill>
                <a:latin typeface="Calibri"/>
              </a:rPr>
              <a:t>248 documentos de origen, incluidos los escaneados (OCR en español).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20" b="1">
                <a:solidFill>
                  <a:srgbClr val="2E5D8A"/>
                </a:solidFill>
                <a:latin typeface="Calibri"/>
              </a:rPr>
              <a:t>2. </a:t>
            </a:r>
            <a:r>
              <a:rPr sz="1120" b="0">
                <a:solidFill>
                  <a:srgbClr val="5A7086"/>
                </a:solidFill>
                <a:latin typeface="Calibri"/>
              </a:rPr>
              <a:t>Texto a Markdown con ficha: definición, concordancias y fuente.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20" b="1">
                <a:solidFill>
                  <a:srgbClr val="2E5D8A"/>
                </a:solidFill>
                <a:latin typeface="Calibri"/>
              </a:rPr>
              <a:t>3. </a:t>
            </a:r>
            <a:r>
              <a:rPr sz="1120" b="0">
                <a:solidFill>
                  <a:srgbClr val="5A7086"/>
                </a:solidFill>
                <a:latin typeface="Calibri"/>
              </a:rPr>
              <a:t>Cada institución, norma y fallo es un nodo.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20" b="1">
                <a:solidFill>
                  <a:srgbClr val="2E5D8A"/>
                </a:solidFill>
                <a:latin typeface="Calibri"/>
              </a:rPr>
              <a:t>4. </a:t>
            </a:r>
            <a:r>
              <a:rPr sz="1120" b="0">
                <a:solidFill>
                  <a:srgbClr val="5A7086"/>
                </a:solidFill>
                <a:latin typeface="Calibri"/>
              </a:rPr>
              <a:t>Las citas entre documentos son las aristas.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20" b="1">
                <a:solidFill>
                  <a:srgbClr val="2E5D8A"/>
                </a:solidFill>
                <a:latin typeface="Calibri"/>
              </a:rPr>
              <a:t>5. </a:t>
            </a:r>
            <a:r>
              <a:rPr sz="1120" b="0">
                <a:solidFill>
                  <a:srgbClr val="5A7086"/>
                </a:solidFill>
                <a:latin typeface="Calibri"/>
              </a:rPr>
              <a:t>46 comunidades: los grupos del derecho chileno.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120" b="1">
                <a:solidFill>
                  <a:srgbClr val="2E5D8A"/>
                </a:solidFill>
                <a:latin typeface="Calibri"/>
              </a:rPr>
              <a:t>6. </a:t>
            </a:r>
            <a:r>
              <a:rPr sz="1120" b="0">
                <a:solidFill>
                  <a:srgbClr val="5A7086"/>
                </a:solidFill>
                <a:latin typeface="Calibri"/>
              </a:rPr>
              <a:t>Las 21 guías entran y se enlazan al corpus.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50" b="1">
                <a:solidFill>
                  <a:srgbClr val="B58B2A"/>
                </a:solidFill>
                <a:latin typeface="Calibri"/>
              </a:rPr>
              <a:t>PARTE 2 · EL CONOCIMIENTO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0">
                <a:solidFill>
                  <a:srgbClr val="12222F"/>
                </a:solidFill>
                <a:latin typeface="Calibri Light"/>
              </a:rPr>
              <a:t>El grafo, en números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2697480" cy="182880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2697480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2121408"/>
            <a:ext cx="25511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11.640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" y="2743200"/>
            <a:ext cx="244144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nodos: instituciones, normas, fallos y obras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2" y="1828800"/>
            <a:ext cx="2697480" cy="182880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4992" y="1828800"/>
            <a:ext cx="2697480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38144" y="2121408"/>
            <a:ext cx="25511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22.170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2743200"/>
            <a:ext cx="244144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aristas: cómo se conectan entre sí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1828800"/>
            <a:ext cx="2697480" cy="182880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828800"/>
            <a:ext cx="2697480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2121408"/>
            <a:ext cx="25511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46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79" y="2743200"/>
            <a:ext cx="244144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comunidades detectadas (Leiden)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89136" y="1828800"/>
            <a:ext cx="2606040" cy="182880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89136" y="1828800"/>
            <a:ext cx="2606040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2288" y="2121408"/>
            <a:ext cx="245973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202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7152" y="2743200"/>
            <a:ext cx="2350008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obras y guías que lo alimentan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977639"/>
            <a:ext cx="11155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180" b="1">
                <a:solidFill>
                  <a:srgbClr val="2E5D8A"/>
                </a:solidFill>
                <a:latin typeface="Calibri"/>
              </a:rPr>
              <a:t>•  </a:t>
            </a:r>
            <a:r>
              <a:rPr sz="1180" b="0">
                <a:solidFill>
                  <a:srgbClr val="5A7086"/>
                </a:solidFill>
                <a:latin typeface="Calibri"/>
              </a:rPr>
              <a:t>Preguntar al grafo devuelve solo el vecindario relevante: las normas, fallos y doctrina de ese tema.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180" b="1">
                <a:solidFill>
                  <a:srgbClr val="2E5D8A"/>
                </a:solidFill>
                <a:latin typeface="Calibri"/>
              </a:rPr>
              <a:t>•  </a:t>
            </a:r>
            <a:r>
              <a:rPr sz="1180" b="0">
                <a:solidFill>
                  <a:srgbClr val="5A7086"/>
                </a:solidFill>
                <a:latin typeface="Calibri"/>
              </a:rPr>
              <a:t>Cada nodo se puede rastrear hasta su archivo y su enlace: el mapa no inventa, resume.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50" b="1">
                <a:solidFill>
                  <a:srgbClr val="B58B2A"/>
                </a:solidFill>
                <a:latin typeface="Calibri"/>
              </a:rPr>
              <a:t>PARTE 2 · EL CONOCIMIENTO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0">
                <a:solidFill>
                  <a:srgbClr val="12222F"/>
                </a:solidFill>
                <a:latin typeface="Calibri Light"/>
              </a:rPr>
              <a:t>Así se ve (muestra real del grafo)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66544" y="1536192"/>
            <a:ext cx="8138160" cy="4617720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11680" y="1463040"/>
            <a:ext cx="8138160" cy="4617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ub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976" y="1545336"/>
            <a:ext cx="7973568" cy="4453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011680" y="6153912"/>
            <a:ext cx="81381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5A7086"/>
                </a:solidFill>
                <a:latin typeface="Calibri"/>
              </a:rPr>
              <a:t>Muestra real: vecindario de un caso sobre despido (181 de los 11.640 nodos). Azul: instituciones · verde: normas · rojo: fallos · dorado: obras.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50" b="1">
                <a:solidFill>
                  <a:srgbClr val="B58B2A"/>
                </a:solidFill>
                <a:latin typeface="Calibri"/>
              </a:rPr>
              <a:t>PARTE 2 · EL CONOCIMIENTO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0">
                <a:solidFill>
                  <a:srgbClr val="12222F"/>
                </a:solidFill>
                <a:latin typeface="Calibri Light"/>
              </a:rPr>
              <a:t>El ahorro de tokens, medido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7784" y="1645920"/>
            <a:ext cx="6492240" cy="4160520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72768"/>
            <a:ext cx="6492240" cy="4160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animacion_ahorr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5216" y="1655064"/>
            <a:ext cx="6327648" cy="3995928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324344" y="1645920"/>
            <a:ext cx="4434840" cy="2487168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269480" y="1572768"/>
            <a:ext cx="4434840" cy="2487168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horr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1776" y="1655064"/>
            <a:ext cx="4270248" cy="2322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69480" y="4315968"/>
            <a:ext cx="448056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100" b="1">
                <a:solidFill>
                  <a:srgbClr val="2E5D8A"/>
                </a:solidFill>
                <a:latin typeface="Calibri"/>
              </a:rPr>
              <a:t>•  </a:t>
            </a:r>
            <a:r>
              <a:rPr sz="1100" b="0">
                <a:solidFill>
                  <a:srgbClr val="5A7086"/>
                </a:solidFill>
                <a:latin typeface="Calibri"/>
              </a:rPr>
              <a:t>«despido»: 123 tokens por el grafo vs 113.458 leyendo el corpus.</a:t>
            </a:r>
          </a:p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1100" b="1">
                <a:solidFill>
                  <a:srgbClr val="2E5D8A"/>
                </a:solidFill>
                <a:latin typeface="Calibri"/>
              </a:rPr>
              <a:t>•  </a:t>
            </a:r>
            <a:r>
              <a:rPr sz="1100" b="0">
                <a:solidFill>
                  <a:srgbClr val="5A7086"/>
                </a:solidFill>
                <a:latin typeface="Calibri"/>
              </a:rPr>
              <a:t>«corrupción»: 137 vs 89.720. «prescripción»: 157 vs 850.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989320"/>
            <a:ext cx="6492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0">
                <a:solidFill>
                  <a:srgbClr val="5A7086"/>
                </a:solidFill>
                <a:latin typeface="Calibri"/>
              </a:rPr>
              <a:t>Medido por el propio sistema (calcular_ahorro_tokens). Escala logarítmica en el gráfico.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50" b="1">
                <a:solidFill>
                  <a:srgbClr val="B58B2A"/>
                </a:solidFill>
                <a:latin typeface="Calibri"/>
              </a:rPr>
              <a:t>PARTE 2 · EL CONOCIMIENTO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0">
                <a:solidFill>
                  <a:srgbClr val="12222F"/>
                </a:solidFill>
                <a:latin typeface="Calibri Light"/>
              </a:rPr>
              <a:t>Cómo operan las citas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7784" y="1645920"/>
            <a:ext cx="6492240" cy="4663440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72768"/>
            <a:ext cx="649224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animacion_citas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5216" y="1655064"/>
            <a:ext cx="6327648" cy="4498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309359"/>
            <a:ext cx="6492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0">
                <a:solidFill>
                  <a:srgbClr val="5A7086"/>
                </a:solidFill>
                <a:latin typeface="Calibri"/>
              </a:rPr>
              <a:t>Dos vías, una regla: toda fuente se cita y se puede rastrear hasta su origen.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1645920"/>
            <a:ext cx="4434840" cy="2103120"/>
          </a:xfrm>
          <a:prstGeom prst="roundRect">
            <a:avLst>
              <a:gd name="adj" fmla="val 6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69480" y="1645920"/>
            <a:ext cx="50292" cy="21031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70648" y="1773936"/>
            <a:ext cx="4050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30" b="1">
                <a:solidFill>
                  <a:srgbClr val="12222F"/>
                </a:solidFill>
                <a:latin typeface="Calibri"/>
              </a:rPr>
              <a:t>En un documento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157984"/>
            <a:ext cx="4032503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00" b="0">
                <a:solidFill>
                  <a:srgbClr val="5A7086"/>
                </a:solidFill>
                <a:latin typeface="Calibri"/>
              </a:rPr>
              <a:t>Informe, análisis, memorándum, escrito: las citas van a pie de página, numeradas, con fuente · identificador · enlace.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9480" y="3931920"/>
            <a:ext cx="4434840" cy="2103120"/>
          </a:xfrm>
          <a:prstGeom prst="roundRect">
            <a:avLst>
              <a:gd name="adj" fmla="val 6000"/>
            </a:avLst>
          </a:prstGeom>
          <a:solidFill>
            <a:srgbClr val="FDF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3931920"/>
            <a:ext cx="50292" cy="2103120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70648" y="4059935"/>
            <a:ext cx="4050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30" b="1">
                <a:solidFill>
                  <a:srgbClr val="12222F"/>
                </a:solidFill>
                <a:latin typeface="Calibri"/>
              </a:rPr>
              <a:t>En la conversación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0648" y="4443983"/>
            <a:ext cx="4032503" cy="14630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100" b="0">
                <a:solidFill>
                  <a:srgbClr val="5A7086"/>
                </a:solidFill>
                <a:latin typeface="Calibri"/>
              </a:rPr>
              <a:t>La respuesta va primero y las citas al final, después del texto. Sin fuente verificable se dice: nunca se rellena el hueco.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50" b="1">
                <a:solidFill>
                  <a:srgbClr val="B58B2A"/>
                </a:solidFill>
                <a:latin typeface="Calibri"/>
              </a:rPr>
              <a:t>PARTE 2 · EL CONOCIMIENTO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0">
                <a:solidFill>
                  <a:srgbClr val="12222F"/>
                </a:solidFill>
                <a:latin typeface="Calibri Light"/>
              </a:rPr>
              <a:t>El camino de una pregunta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7784" y="1645920"/>
            <a:ext cx="6492240" cy="4663440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72768"/>
            <a:ext cx="649224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animacion_fluj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5216" y="1655064"/>
            <a:ext cx="6327648" cy="4498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69480" y="1691640"/>
            <a:ext cx="4434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120" b="1">
                <a:solidFill>
                  <a:srgbClr val="12222F"/>
                </a:solidFill>
                <a:latin typeface="Calibri"/>
              </a:rPr>
              <a:t>1.  Mesa de entrada. </a:t>
            </a:r>
            <a:r>
              <a:rPr sz="1120" b="0">
                <a:solidFill>
                  <a:srgbClr val="5A7086"/>
                </a:solidFill>
                <a:latin typeface="Calibri"/>
              </a:rPr>
              <a:t>Decide por código, no adivinando.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120" b="1">
                <a:solidFill>
                  <a:srgbClr val="12222F"/>
                </a:solidFill>
                <a:latin typeface="Calibri"/>
              </a:rPr>
              <a:t>2.  Conectores del Estado. </a:t>
            </a:r>
            <a:r>
              <a:rPr sz="1120" b="0">
                <a:solidFill>
                  <a:srgbClr val="5A7086"/>
                </a:solidFill>
                <a:latin typeface="Calibri"/>
              </a:rPr>
              <a:t>DT, BCN… con su enlace.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120" b="1">
                <a:solidFill>
                  <a:srgbClr val="12222F"/>
                </a:solidFill>
                <a:latin typeface="Calibri"/>
              </a:rPr>
              <a:t>3.  Doctrina y guías. </a:t>
            </a:r>
            <a:r>
              <a:rPr sz="1120" b="0">
                <a:solidFill>
                  <a:srgbClr val="5A7086"/>
                </a:solidFill>
                <a:latin typeface="Calibri"/>
              </a:rPr>
              <a:t>Índice de búsqueda del corpus.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120" b="1">
                <a:solidFill>
                  <a:srgbClr val="12222F"/>
                </a:solidFill>
                <a:latin typeface="Calibri"/>
              </a:rPr>
              <a:t>4.  Grafo. </a:t>
            </a:r>
            <a:r>
              <a:rPr sz="1120" b="0">
                <a:solidFill>
                  <a:srgbClr val="5A7086"/>
                </a:solidFill>
                <a:latin typeface="Calibri"/>
              </a:rPr>
              <a:t>El subgrafo mínimo del tema.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120" b="1">
                <a:solidFill>
                  <a:srgbClr val="12222F"/>
                </a:solidFill>
                <a:latin typeface="Calibri"/>
              </a:rPr>
              <a:t>5.  Respuesta citada. </a:t>
            </a:r>
            <a:r>
              <a:rPr sz="1120" b="0">
                <a:solidFill>
                  <a:srgbClr val="5A7086"/>
                </a:solidFill>
                <a:latin typeface="Calibri"/>
              </a:rPr>
              <a:t>Fuentes al final, rastreables.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91440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50" b="1">
                <a:solidFill>
                  <a:srgbClr val="B58B2A"/>
                </a:solidFill>
                <a:latin typeface="Calibri"/>
              </a:rPr>
              <a:t>PARTE 2 · EL CONOCIMIENTO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400" b="0">
                <a:solidFill>
                  <a:srgbClr val="12222F"/>
                </a:solidFill>
                <a:latin typeface="Calibri Light"/>
              </a:rPr>
              <a:t>Un caso, de punta a punta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57784" y="1645920"/>
            <a:ext cx="6492240" cy="4663440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572768"/>
            <a:ext cx="649224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D8E0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animacion_caso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5216" y="1655064"/>
            <a:ext cx="6327648" cy="4498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309359"/>
            <a:ext cx="64922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000" b="0">
                <a:solidFill>
                  <a:srgbClr val="5A7086"/>
                </a:solidFill>
                <a:latin typeface="Calibri"/>
              </a:rPr>
              <a:t>«Analizá esta carpeta»: de los documentos al informe en Word, con citas.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737360"/>
            <a:ext cx="44805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100" b="1">
                <a:solidFill>
                  <a:srgbClr val="2E5D8A"/>
                </a:solidFill>
                <a:latin typeface="Calibri"/>
              </a:rPr>
              <a:t>•  </a:t>
            </a:r>
            <a:r>
              <a:rPr sz="1100" b="1">
                <a:solidFill>
                  <a:srgbClr val="5A7086"/>
                </a:solidFill>
                <a:latin typeface="Calibri"/>
              </a:rPr>
              <a:t>La carpeta entra tal como está: </a:t>
            </a:r>
            <a:r>
              <a:rPr sz="1100" b="0">
                <a:solidFill>
                  <a:srgbClr val="5A7086"/>
                </a:solidFill>
                <a:latin typeface="Calibri"/>
              </a:rPr>
              <a:t>incluso escaneados y fotos.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100" b="1">
                <a:solidFill>
                  <a:srgbClr val="2E5D8A"/>
                </a:solidFill>
                <a:latin typeface="Calibri"/>
              </a:rPr>
              <a:t>•  </a:t>
            </a:r>
            <a:r>
              <a:rPr sz="1100" b="1">
                <a:solidFill>
                  <a:srgbClr val="5A7086"/>
                </a:solidFill>
                <a:latin typeface="Calibri"/>
              </a:rPr>
              <a:t>La mesa de entrada decide por código: </a:t>
            </a:r>
            <a:r>
              <a:rPr sz="1100" b="0">
                <a:solidFill>
                  <a:srgbClr val="5A7086"/>
                </a:solidFill>
                <a:latin typeface="Calibri"/>
              </a:rPr>
              <a:t>materia y figura según patrones chilenos.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100" b="1">
                <a:solidFill>
                  <a:srgbClr val="2E5D8A"/>
                </a:solidFill>
                <a:latin typeface="Calibri"/>
              </a:rPr>
              <a:t>•  </a:t>
            </a:r>
            <a:r>
              <a:rPr sz="1100" b="1">
                <a:solidFill>
                  <a:srgbClr val="5A7086"/>
                </a:solidFill>
                <a:latin typeface="Calibri"/>
              </a:rPr>
              <a:t>Cada fuente responde con su enlace: </a:t>
            </a:r>
            <a:r>
              <a:rPr sz="1100" b="0">
                <a:solidFill>
                  <a:srgbClr val="5A7086"/>
                </a:solidFill>
                <a:latin typeface="Calibri"/>
              </a:rPr>
              <a:t>lista para citar.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1100" b="1">
                <a:solidFill>
                  <a:srgbClr val="2E5D8A"/>
                </a:solidFill>
                <a:latin typeface="Calibri"/>
              </a:rPr>
              <a:t>•  </a:t>
            </a:r>
            <a:r>
              <a:rPr sz="1100" b="1">
                <a:solidFill>
                  <a:srgbClr val="5A7086"/>
                </a:solidFill>
                <a:latin typeface="Calibri"/>
              </a:rPr>
              <a:t>El informe sale en Word, editable, </a:t>
            </a:r>
            <a:r>
              <a:rPr sz="1100" b="0">
                <a:solidFill>
                  <a:srgbClr val="5A7086"/>
                </a:solidFill>
                <a:latin typeface="Calibri"/>
              </a:rPr>
              <a:t>con las citas a pie de página.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0">
                <a:solidFill>
                  <a:srgbClr val="12222F"/>
                </a:solidFill>
                <a:latin typeface="Calibri Light"/>
              </a:rPr>
              <a:t>Open Legal Chile, en números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783080"/>
            <a:ext cx="2697480" cy="173736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783080"/>
            <a:ext cx="2697480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2075688"/>
            <a:ext cx="25511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" y="2697480"/>
            <a:ext cx="2441448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herramientas 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1783080"/>
            <a:ext cx="2697480" cy="173736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783080"/>
            <a:ext cx="2697480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38144" y="2075688"/>
            <a:ext cx="25511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2697480"/>
            <a:ext cx="2441448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conectores del Estado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27064" y="1783080"/>
            <a:ext cx="2697480" cy="173736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27064" y="1783080"/>
            <a:ext cx="2697480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6" y="2075688"/>
            <a:ext cx="25511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248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79" y="2697480"/>
            <a:ext cx="2441448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documentos completos (68,9 M de caracteres)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89136" y="1783080"/>
            <a:ext cx="2606040" cy="173736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089136" y="1783080"/>
            <a:ext cx="2606040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62288" y="2075688"/>
            <a:ext cx="245973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11.640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2697480"/>
            <a:ext cx="2350008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nodos del grafo, con visor interactivo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703320"/>
            <a:ext cx="2697480" cy="173736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703320"/>
            <a:ext cx="2697480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72" y="3995928"/>
            <a:ext cx="25511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617720"/>
            <a:ext cx="2441448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agentes especializados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64992" y="3703320"/>
            <a:ext cx="2697480" cy="173736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364992" y="3703320"/>
            <a:ext cx="2697480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38144" y="3995928"/>
            <a:ext cx="25511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93008" y="4617720"/>
            <a:ext cx="2441448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skills de procedimiento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27064" y="3703320"/>
            <a:ext cx="2697480" cy="173736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27064" y="3703320"/>
            <a:ext cx="2697480" cy="45720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0216" y="3995928"/>
            <a:ext cx="255117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6,17 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79" y="4617720"/>
            <a:ext cx="2441448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caracteres de guías de la Academia Judicial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089136" y="3703320"/>
            <a:ext cx="2606040" cy="1737360"/>
          </a:xfrm>
          <a:prstGeom prst="roundRect">
            <a:avLst>
              <a:gd name="adj" fmla="val 7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89136" y="3703320"/>
            <a:ext cx="2606040" cy="45720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62288" y="3995928"/>
            <a:ext cx="2459736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Aft>
                <a:spcPts val="400"/>
              </a:spcAft>
            </a:pPr>
            <a:r>
              <a:rPr sz="2900" b="1">
                <a:solidFill>
                  <a:srgbClr val="1F3B57"/>
                </a:solidFill>
                <a:latin typeface="Calibri Light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17152" y="4617720"/>
            <a:ext cx="2350008" cy="777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400"/>
              </a:spcAft>
            </a:pPr>
            <a:r>
              <a:rPr sz="1019" b="0">
                <a:solidFill>
                  <a:srgbClr val="5A7086"/>
                </a:solidFill>
                <a:latin typeface="Calibri"/>
              </a:rPr>
              <a:t>grafos: el corpus y las guías, enlazados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0">
                <a:solidFill>
                  <a:srgbClr val="12222F"/>
                </a:solidFill>
                <a:latin typeface="Calibri Light"/>
              </a:rPr>
              <a:t>Las reglas de la casa: citas y honestidad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" y="1481328"/>
            <a:ext cx="11183112" cy="859536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481328"/>
            <a:ext cx="54864" cy="859536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00200"/>
            <a:ext cx="10698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60" b="1">
                <a:solidFill>
                  <a:srgbClr val="12222F"/>
                </a:solidFill>
                <a:latin typeface="Calibri"/>
              </a:rPr>
              <a:t>Toda fuente se cita.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920240"/>
            <a:ext cx="10698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5A7086"/>
                </a:solidFill>
                <a:latin typeface="Calibri"/>
              </a:rPr>
              <a:t>En documentos, a pie de página. En la conversación, al final.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450592"/>
            <a:ext cx="11183112" cy="859536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450592"/>
            <a:ext cx="54864" cy="859536"/>
          </a:xfrm>
          <a:prstGeom prst="rect">
            <a:avLst/>
          </a:prstGeom>
          <a:solidFill>
            <a:srgbClr val="1E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569464"/>
            <a:ext cx="10698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60" b="1">
                <a:solidFill>
                  <a:srgbClr val="12222F"/>
                </a:solidFill>
                <a:latin typeface="Calibri"/>
              </a:rPr>
              <a:t>Los documentos salen en Word.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889504"/>
            <a:ext cx="10698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5A7086"/>
                </a:solidFill>
                <a:latin typeface="Calibri"/>
              </a:rPr>
              <a:t>Editables, no sólo PDF: el abogado corrige sin conversiones.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19856"/>
            <a:ext cx="11183112" cy="859536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419856"/>
            <a:ext cx="54864" cy="859536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538728"/>
            <a:ext cx="10698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60" b="1">
                <a:solidFill>
                  <a:srgbClr val="12222F"/>
                </a:solidFill>
                <a:latin typeface="Calibri"/>
              </a:rPr>
              <a:t>Sin fuente verificable, se dice.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858768"/>
            <a:ext cx="10698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5A7086"/>
                </a:solidFill>
                <a:latin typeface="Calibri"/>
              </a:rPr>
              <a:t>«No tengo fuente para esto» es una respuesta válida.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389120"/>
            <a:ext cx="11183112" cy="859536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389120"/>
            <a:ext cx="54864" cy="859536"/>
          </a:xfrm>
          <a:prstGeom prst="rect">
            <a:avLst/>
          </a:prstGeom>
          <a:solidFill>
            <a:srgbClr val="2E5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07992"/>
            <a:ext cx="10698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60" b="1">
                <a:solidFill>
                  <a:srgbClr val="12222F"/>
                </a:solidFill>
                <a:latin typeface="Calibri"/>
              </a:rPr>
              <a:t>Datos de personas, fuera del dataset.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4828032"/>
            <a:ext cx="10698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5A7086"/>
                </a:solidFill>
                <a:latin typeface="Calibri"/>
              </a:rPr>
              <a:t>El corpus público no lleva información personal.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358384"/>
            <a:ext cx="11183112" cy="859536"/>
          </a:xfrm>
          <a:prstGeom prst="roundRect">
            <a:avLst>
              <a:gd name="adj" fmla="val 10000"/>
            </a:avLst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5358384"/>
            <a:ext cx="54864" cy="859536"/>
          </a:xfrm>
          <a:prstGeom prst="rect">
            <a:avLst/>
          </a:prstGeom>
          <a:solidFill>
            <a:srgbClr val="8F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477256"/>
            <a:ext cx="106984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60" b="1">
                <a:solidFill>
                  <a:srgbClr val="12222F"/>
                </a:solidFill>
                <a:latin typeface="Calibri"/>
              </a:rPr>
              <a:t>Herramienta que puede mentir, no existe.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797296"/>
            <a:ext cx="106984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80" b="0">
                <a:solidFill>
                  <a:srgbClr val="5A7086"/>
                </a:solidFill>
                <a:latin typeface="Calibri"/>
              </a:rPr>
              <a:t>La consulta de causas del PJUD se retiró: no había puerta pública y podía dar información errónea.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ortada_n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371600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200" b="1">
                <a:solidFill>
                  <a:srgbClr val="B58B2A"/>
                </a:solidFill>
                <a:latin typeface="Calibri"/>
              </a:rPr>
              <a:t>PRUEBA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55648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4000" b="0">
                <a:solidFill>
                  <a:srgbClr val="FFFFFF"/>
                </a:solidFill>
                <a:latin typeface="Calibri Light"/>
              </a:rPr>
              <a:t>En vivo: pregunten lo que quieran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100584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Preguntas al azar, en lenguaje natural: </a:t>
            </a:r>
            <a:r>
              <a:rPr sz="1300" b="0">
                <a:solidFill>
                  <a:srgbClr val="B9C7D6"/>
                </a:solidFill>
                <a:latin typeface="Calibri"/>
              </a:rPr>
              <a:t>casos, plazos, dictámenes, doctrina, análisis de documentos.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Van a ver las herramientas trabajar y las fuentes aparecer al final. </a:t>
            </a:r>
            <a:r>
              <a:rPr sz="1300" b="0">
                <a:solidFill>
                  <a:srgbClr val="B9C7D6"/>
                </a:solidFill>
                <a:latin typeface="Calibri"/>
              </a:rPr>
              <a:t>Si una fuente no responde, el sistema lo dice: no rellena el hueco.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920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150" b="0">
                <a:solidFill>
                  <a:srgbClr val="B9C7D6"/>
                </a:solidFill>
                <a:latin typeface="Calibri"/>
              </a:rPr>
              <a:t>github.com/elpabloultron/open-legal-chile   ·   pypi.org/project/openlegal-chile   ·   huggingface.co/datasets/pablobenavidesj/doctrina-jurisprudencia-chile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6455664"/>
            <a:ext cx="11183112" cy="10972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501384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Open Legal Chile · prueba en vivo · septiembre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61320" y="6501384"/>
            <a:ext cx="112471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Aft>
                <a:spcPts val="400"/>
              </a:spcAft>
            </a:pPr>
            <a:r>
              <a:rPr sz="900" b="0">
                <a:solidFill>
                  <a:srgbClr val="5A7086"/>
                </a:solidFill>
                <a:latin typeface="Calibri"/>
              </a:rP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111556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0">
                <a:solidFill>
                  <a:srgbClr val="12222F"/>
                </a:solidFill>
                <a:latin typeface="Calibri Light"/>
              </a:rPr>
              <a:t>Fuentes de esta presentación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261872"/>
            <a:ext cx="960120" cy="41148"/>
          </a:xfrm>
          <a:prstGeom prst="rect">
            <a:avLst/>
          </a:prstGeom>
          <a:solidFill>
            <a:srgbClr val="B58B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1115568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120" b="1">
                <a:solidFill>
                  <a:srgbClr val="2E5D8A"/>
                </a:solidFill>
                <a:latin typeface="Calibri"/>
              </a:rPr>
              <a:t>1.</a:t>
            </a:r>
            <a:r>
              <a:rPr sz="1120" b="1">
                <a:solidFill>
                  <a:srgbClr val="12222F"/>
                </a:solidFill>
                <a:latin typeface="Calibri"/>
              </a:rPr>
              <a:t>  [Corpus completo en Hugging Face] </a:t>
            </a:r>
            <a:r>
              <a:rPr sz="1120" b="0">
                <a:solidFill>
                  <a:srgbClr val="5A7086"/>
                </a:solidFill>
                <a:latin typeface="Calibri"/>
              </a:rPr>
              <a:t>huggingface.co/datasets/pablobenavidesj/doctrina-jurisprudencia-chile — 248 documentos, 2 grafos y sus enlaces.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120" b="1">
                <a:solidFill>
                  <a:srgbClr val="2E5D8A"/>
                </a:solidFill>
                <a:latin typeface="Calibri"/>
              </a:rPr>
              <a:t>2.</a:t>
            </a:r>
            <a:r>
              <a:rPr sz="1120" b="1">
                <a:solidFill>
                  <a:srgbClr val="12222F"/>
                </a:solidFill>
                <a:latin typeface="Calibri"/>
              </a:rPr>
              <a:t>  [Código y auditoría] </a:t>
            </a:r>
            <a:r>
              <a:rPr sz="1120" b="0">
                <a:solidFill>
                  <a:srgbClr val="5A7086"/>
                </a:solidFill>
                <a:latin typeface="Calibri"/>
              </a:rPr>
              <a:t>github.com/elpabloultron/open-legal-chile — CI, auditoría 360° y 251 pruebas.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120" b="1">
                <a:solidFill>
                  <a:srgbClr val="2E5D8A"/>
                </a:solidFill>
                <a:latin typeface="Calibri"/>
              </a:rPr>
              <a:t>3.</a:t>
            </a:r>
            <a:r>
              <a:rPr sz="1120" b="1">
                <a:solidFill>
                  <a:srgbClr val="12222F"/>
                </a:solidFill>
                <a:latin typeface="Calibri"/>
              </a:rPr>
              <a:t>  [Paquete instalable] </a:t>
            </a:r>
            <a:r>
              <a:rPr sz="1120" b="0">
                <a:solidFill>
                  <a:srgbClr val="5A7086"/>
                </a:solidFill>
                <a:latin typeface="Calibri"/>
              </a:rPr>
              <a:t>pypi.org/project/openlegal-chile (1.6.4).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120" b="1">
                <a:solidFill>
                  <a:srgbClr val="2E5D8A"/>
                </a:solidFill>
                <a:latin typeface="Calibri"/>
              </a:rPr>
              <a:t>4.</a:t>
            </a:r>
            <a:r>
              <a:rPr sz="1120" b="1">
                <a:solidFill>
                  <a:srgbClr val="12222F"/>
                </a:solidFill>
                <a:latin typeface="Calibri"/>
              </a:rPr>
              <a:t>  [Cifras del grafo y del ahorro] </a:t>
            </a:r>
            <a:r>
              <a:rPr sz="1120" b="0">
                <a:solidFill>
                  <a:srgbClr val="5A7086"/>
                </a:solidFill>
                <a:latin typeface="Calibri"/>
              </a:rPr>
              <a:t>medidas por el propio sistema (legal_graphify: 11.640 nodos · 22.170 aristas · calcular_ahorro_tokens).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120" b="1">
                <a:solidFill>
                  <a:srgbClr val="2E5D8A"/>
                </a:solidFill>
                <a:latin typeface="Calibri"/>
              </a:rPr>
              <a:t>5.</a:t>
            </a:r>
            <a:r>
              <a:rPr sz="1120" b="1">
                <a:solidFill>
                  <a:srgbClr val="12222F"/>
                </a:solidFill>
                <a:latin typeface="Calibri"/>
              </a:rPr>
              <a:t>  [Guías de la Academia Judicial] </a:t>
            </a:r>
            <a:r>
              <a:rPr sz="1120" b="0">
                <a:solidFill>
                  <a:srgbClr val="5A7086"/>
                </a:solidFill>
                <a:latin typeface="Calibri"/>
              </a:rPr>
              <a:t>guias.academiajudicial.cl — 21 guías, en Markdown completo dentro del corpus.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120" b="1">
                <a:solidFill>
                  <a:srgbClr val="2E5D8A"/>
                </a:solidFill>
                <a:latin typeface="Calibri"/>
              </a:rPr>
              <a:t>6.</a:t>
            </a:r>
            <a:r>
              <a:rPr sz="1120" b="1">
                <a:solidFill>
                  <a:srgbClr val="12222F"/>
                </a:solidFill>
                <a:latin typeface="Calibri"/>
              </a:rPr>
              <a:t>  [Doctrina] </a:t>
            </a:r>
            <a:r>
              <a:rPr sz="1120" b="0">
                <a:solidFill>
                  <a:srgbClr val="5A7086"/>
                </a:solidFill>
                <a:latin typeface="Calibri"/>
              </a:rPr>
              <a:t>Apuntes de Juan Andrés Orrego Acuña (juanandresorrego.cl) y materiales docentes de la Academia Judicial.</a:t>
            </a:r>
          </a:p>
          <a:p>
            <a:pPr algn="l">
              <a:lnSpc>
                <a:spcPct val="122000"/>
              </a:lnSpc>
              <a:spcAft>
                <a:spcPts val="1000"/>
              </a:spcAft>
            </a:pPr>
            <a:r>
              <a:rPr sz="1120" b="1">
                <a:solidFill>
                  <a:srgbClr val="2E5D8A"/>
                </a:solidFill>
                <a:latin typeface="Calibri"/>
              </a:rPr>
              <a:t>7.</a:t>
            </a:r>
            <a:r>
              <a:rPr sz="1120" b="1">
                <a:solidFill>
                  <a:srgbClr val="12222F"/>
                </a:solidFill>
                <a:latin typeface="Calibri"/>
              </a:rPr>
              <a:t>  [Normativa y dictámenes] </a:t>
            </a:r>
            <a:r>
              <a:rPr sz="1120" b="0">
                <a:solidFill>
                  <a:srgbClr val="5A7086"/>
                </a:solidFill>
                <a:latin typeface="Calibri"/>
              </a:rPr>
              <a:t>bcn.cl/leychile · contraloría.cl · dt.gob.cl — citados en cada respuesta que los use.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