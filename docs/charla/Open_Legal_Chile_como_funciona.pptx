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breve: qué es esto y cómo se usa. Después, preguntas al azar de los asistentes.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mostrar el sistema, las piezas básicas. Todo con ejemplos.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importante: no es una enciclopedia, es un redactor probabilístico. Por eso el sistema lo ata a fuentes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vivo: «analízame esta carpeta de caso» — el agente llama solo a las herramientas, sin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Ventaja: se conecta una vez y sirve para cualquier cliente de IA que hable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skills son la diferencia entre un chat genérico y un sistema que trabaja como el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las capas: LLM → agente → MCP → herramientas, skills, corpus y conectores → el abogado preguntando.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Cómo el sistema conoce el derecho chileno sin leer todo cada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Analogía: no se le entrega la biblioteca entera al abogado; se le da el mapa y la página exacta.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grafo se reindexa con cada corpus nuevo; las instituciones y normas se enlazan solas.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Vecindario real en torno a un caso de despido. Azul: instituciones. Verde: normas. Rojo: fallos. Dorado: obras. Son 181 nodos de los 11.640.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Cifras del propio sistema: «corrupción» 137 tokens vs 89.720; «despido» 123 vs 113.458; «prescripción» 157 vs 850. Escala logarítmica.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Mesa de entrada (decide por código) → conectores → doctrina y guías → grafo → respuesta citada. Cada etapa deja rastro.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caja completa. Cada pieza se puede usar por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reglas están en las 18 skills y en los 19 agentes: no dependen del ánimo del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invitando a preguntas difíciles: ahí se ve la diferencia entre citar de verdad y aparentar.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Legal Chile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Cómo funciona, de lo más básico a lo más complejo — Prueba en vivo</a:t>
            </a:r>
          </a:p>
          <a:p>
            <a:r>
              <a:t>Pablo Benavides Jorquera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Parte 1 · Los cimientos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Qué es una IA, un agente, MCP y una skill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IA? ¿Y un «LLM»?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Un LLM (modelo de lenguaje) es una máquina que **predice la palabra que sigue**: así se entrenó, leyendo millones de textos.</a:t>
            </a:r>
          </a:p>
          <a:p>
            <a:pPr/>
            <a:r>
              <a:rPr/>
              <a:t>No consulta una base de datos ni «sabe» derecho: calcula probabilidades.</a:t>
            </a:r>
          </a:p>
          <a:p>
            <a:pPr/>
            <a:r>
              <a:rPr/>
              <a:t>Ejemplo: «El recurso de protección se interpone ante la ___» → «Corte» 63 %, «Excelentísima» 14 %, «Sala» 9 %.</a:t>
            </a:r>
          </a:p>
          <a:p>
            <a:pPr/>
            <a:r>
              <a:rPr/>
              <a:t>Fortaleza: redacta, resume, traduce. Debilidad: **inventa con seguridad** (cita fallos que no existen).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agente (o «harness»)?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El LLM es el motor; el **agente** es el auto completo: le da herramientas, memoria, reglas y frenos.</a:t>
            </a:r>
          </a:p>
          <a:p>
            <a:pPr/>
            <a:r>
              <a:rPr/>
              <a:t>Harnesses conocidos: Claude Code, Antigravity, Hermes (el que usamos en esta casa).</a:t>
            </a:r>
          </a:p>
          <a:p>
            <a:pPr/>
            <a:r>
              <a:rPr/>
              <a:t>Un agente busca en el BCN, lee un PDF, revisa un plazo, arma un escrito — y decide cuándo usar cada herramienta.</a:t>
            </a:r>
          </a:p>
          <a:p>
            <a:pPr/>
            <a:r>
              <a:rPr/>
              <a:t>Todo lo que hace deja rastro: qué herramienta usó y con qué fuente.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MCP? El enchufe de las herramientas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MCP es un **protocolo estándar** (como el USB-C): conecta a un agente con herramientas sin trabajo a medida para cada cliente.</a:t>
            </a:r>
          </a:p>
          <a:p>
            <a:pPr/>
            <a:r>
              <a:rPr/>
              <a:t>Open Legal Chile expone **74 herramientas** por MCP: BCN, Contraloría, Dirección del Trabajo, SII, CMF, SMA, PJUD, doctrina, grafo…</a:t>
            </a:r>
          </a:p>
          <a:p>
            <a:pPr/>
            <a:r>
              <a:rPr/>
              <a:t>Cualquier agente compatible (Claude Code, Cursor, Antigravity) las usa de inmediato.</a:t>
            </a:r>
          </a:p>
          <a:p>
            <a:pPr/>
            <a:r>
              <a:rPr/>
              <a:t>El abogado no llama comandos: **pregunta en lenguaje natural**.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skill? El manual de procedimiento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Una skill es un **procedimiento escrito** que el agente lee antes de actuar: como un protocolo del estudio.</a:t>
            </a:r>
          </a:p>
          <a:p>
            <a:pPr/>
            <a:r>
              <a:rPr/>
              <a:t>Ejemplo real: `chilean-case-intake` — cómo analizar una carpeta de caso: qué buscar, en qué orden, qué reportar.</a:t>
            </a:r>
          </a:p>
          <a:p>
            <a:pPr/>
            <a:r>
              <a:rPr/>
              <a:t>La casa tiene **18 skills**: laboral, familia, contratos, societario, dossier, auditoría, diseño legal…</a:t>
            </a:r>
          </a:p>
          <a:p>
            <a:pPr/>
            <a:r>
              <a:rPr/>
              <a:t>Regla de oro: lo que no tiene fuente verificable **se dice**, no se inventa.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 junto, por capas</a:t>
            </a:r>
          </a:p>
        </p:txBody>
      </p:sp>
      <p:pic>
        <p:nvPicPr>
          <p:cNvPr id="3" name="Picture 2" descr="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960120"/>
            <a:ext cx="8321040" cy="5733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Parte 2 · El conocimiento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corpus, el grafo y el ahorro de tokens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del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Cada palabra que el modelo lee **cuesta** (tokens), tarda y ocupa la ventana de contexto (≈ 4 caracteres = 1 token).</a:t>
            </a:r>
          </a:p>
          <a:p>
            <a:pPr/>
            <a:r>
              <a:rPr/>
              <a:t>El corpus chileno completo: **68,9 millones de caracteres** — decenas de miles de páginas.</a:t>
            </a:r>
          </a:p>
          <a:p>
            <a:pPr/>
            <a:r>
              <a:rPr/>
              <a:t>Leer todo en cada consulta es caro, lento… y peor: lo importante se diluye.</a:t>
            </a:r>
          </a:p>
          <a:p>
            <a:pPr/>
            <a:r>
              <a:rPr/>
              <a:t>La solución: un **grafo de conocimiento**, el mapa del derecho chileno.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grafo? Nodos y relaciones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**Nodos**: instituciones, normas, fallos y obras — **11.640** en total.</a:t>
            </a:r>
          </a:p>
          <a:p>
            <a:pPr/>
            <a:r>
              <a:rPr/>
              <a:t>**Aristas**: cómo se conectan — **22.170** relaciones. «recurso de protección» → Cea Egaña; «falta de servicio» → Bermúdez.</a:t>
            </a:r>
          </a:p>
          <a:p>
            <a:pPr/>
            <a:r>
              <a:rPr/>
              <a:t>Se construyó procesando **248 documentos**: 73 apuntes, 93 materiales docentes, 21 guías de la Academia Judicial y manuales.</a:t>
            </a:r>
          </a:p>
          <a:p>
            <a:pPr/>
            <a:r>
              <a:rPr/>
              <a:t>Preguntar al grafo devuelve **solo el vecindario relevante**, no la biblioteca entera.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Así se ve (muestra real del grafo)</a:t>
            </a:r>
          </a:p>
        </p:txBody>
      </p:sp>
      <p:pic>
        <p:nvPicPr>
          <p:cNvPr id="3" name="Picture 2" descr="sub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97280"/>
            <a:ext cx="7863840" cy="53675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ahorro, medido</a:t>
            </a:r>
          </a:p>
        </p:txBody>
      </p:sp>
      <p:pic>
        <p:nvPicPr>
          <p:cNvPr id="3" name="Picture 2" descr="aho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88720"/>
            <a:ext cx="8778240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camino de una pregunta</a:t>
            </a:r>
          </a:p>
        </p:txBody>
      </p:sp>
      <p:pic>
        <p:nvPicPr>
          <p:cNvPr id="3" name="Picture 2" descr="fl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106070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es Open Legal Chile, en números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**74 herramientas** MCP y **10 conectores del Estado** (BCN, CGR, DT, SII, CMF, SMA, PJUD…).</a:t>
            </a:r>
          </a:p>
          <a:p>
            <a:pPr/>
            <a:r>
              <a:rPr/>
              <a:t>**248 documentos completos** en Markdown (68,9 M de caracteres), incluidas las guías de la Academia Judicial.</a:t>
            </a:r>
          </a:p>
          <a:p>
            <a:pPr/>
            <a:r>
              <a:rPr/>
              <a:t>**Grafo de 11.640 nodos** con visor interactivo; ahorro medido de hasta 99,9 %.</a:t>
            </a:r>
          </a:p>
          <a:p>
            <a:pPr/>
            <a:r>
              <a:rPr/>
              <a:t>**19 agentes especializados** y **18 skills**; mesas de entrada que deciden por código, no por corazonada.</a:t>
            </a:r>
          </a:p>
          <a:p>
            <a:pPr/>
            <a:r>
              <a:rPr/>
              <a:t>Todo es público: PyPI, GitHub y Hugging Face (el dataset completo, con las guías).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 reglas de la casa: citas y honestidad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**Toda fuente se cita**: en los documentos, a pie de página; en la conversación, **al final de la respuesta**.</a:t>
            </a:r>
          </a:p>
          <a:p>
            <a:pPr/>
            <a:r>
              <a:rPr/>
              <a:t>Los documentos se entregan en **Word**, editables (no sólo PDF): el abogado corrige.</a:t>
            </a:r>
          </a:p>
          <a:p>
            <a:pPr/>
            <a:r>
              <a:rPr/>
              <a:t>Sin fuente verificable se dice «sin fuente verificable»: preferimos el hueco a la invención.</a:t>
            </a:r>
          </a:p>
          <a:p>
            <a:pPr/>
            <a:r>
              <a:rPr/>
              <a:t>Datos de personas reales **no** van al dataset público.</a:t>
            </a:r>
          </a:p>
          <a:p>
            <a:pPr/>
            <a:r>
              <a:rPr/>
              <a:t>Ejemplo de honestidad: la consulta de causas del PJUD se **retiró** porque no había puerta pública y podía entregar información errónea.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vivo: pregunten lo que quieran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Preguntas al azar, en lenguaje natural: casos, plazos, dictámenes, doctrina, análisis de documentos.</a:t>
            </a:r>
          </a:p>
          <a:p>
            <a:pPr/>
            <a:r>
              <a:rPr/>
              <a:t>Van a ver las herramientas trabajar y **las fuentes aparecer al final**.</a:t>
            </a:r>
          </a:p>
          <a:p>
            <a:pPr/>
            <a:r>
              <a:rPr/>
              <a:t>Si una fuente no responde o no existe, el sistema lo dice en vez de rellenar el hueco.</a:t>
            </a:r>
          </a:p>
          <a:p>
            <a:pPr/>
            <a:r>
              <a:rPr/>
              <a:t>Fuentes de la casa: github.com/elpabloultron/open-legal-chile · pypi.org/project/open-legal-chile · huggingface.co/datasets/pablobenavidesj/doctrina-jurisprudencia-chile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